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21031200" cx="320040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624">
          <p15:clr>
            <a:srgbClr val="000000"/>
          </p15:clr>
        </p15:guide>
        <p15:guide id="2" pos="100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j5cAZzivsupA8x0Ahga4Z13m1C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624" orient="horz"/>
        <p:guide pos="100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Roboto-boldItalic.fntdata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1600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10934700" y="19492912"/>
            <a:ext cx="10134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22936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 rot="5400000">
            <a:off x="17831012" y="6214113"/>
            <a:ext cx="17944677" cy="72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 rot="5400000">
            <a:off x="3162512" y="-720087"/>
            <a:ext cx="17944677" cy="21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1600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10934700" y="19492912"/>
            <a:ext cx="10134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22936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1600200" y="842962"/>
            <a:ext cx="28803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 rot="5400000">
            <a:off x="9062244" y="-2555082"/>
            <a:ext cx="13879512" cy="288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1600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10934700" y="19492912"/>
            <a:ext cx="10134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22936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6273008" y="14721840"/>
            <a:ext cx="19202400" cy="1737997"/>
          </a:xfrm>
          <a:prstGeom prst="rect">
            <a:avLst/>
          </a:prstGeom>
          <a:noFill/>
          <a:ln>
            <a:noFill/>
          </a:ln>
        </p:spPr>
        <p:txBody>
          <a:bodyPr anchorCtr="0" anchor="b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6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>
            <p:ph idx="2" type="pic"/>
          </p:nvPr>
        </p:nvSpPr>
        <p:spPr>
          <a:xfrm>
            <a:off x="6273008" y="1879177"/>
            <a:ext cx="19202400" cy="1261872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6273008" y="16459837"/>
            <a:ext cx="19202400" cy="2468243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None/>
              <a:defRPr sz="46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indent="-228600" lvl="2" marL="137160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1600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1" type="ftr"/>
          </p:nvPr>
        </p:nvSpPr>
        <p:spPr>
          <a:xfrm>
            <a:off x="10934700" y="19492912"/>
            <a:ext cx="10134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22936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1600202" y="837353"/>
            <a:ext cx="10529096" cy="3563620"/>
          </a:xfrm>
          <a:prstGeom prst="rect">
            <a:avLst/>
          </a:prstGeom>
          <a:noFill/>
          <a:ln>
            <a:noFill/>
          </a:ln>
        </p:spPr>
        <p:txBody>
          <a:bodyPr anchorCtr="0" anchor="b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6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12512675" y="837355"/>
            <a:ext cx="17891125" cy="17949547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indent="-901700" lvl="0" marL="457200" algn="l">
              <a:lnSpc>
                <a:spcPct val="100000"/>
              </a:lnSpc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Char char="•"/>
              <a:defRPr sz="10600"/>
            </a:lvl1pPr>
            <a:lvl2pPr indent="-819150" lvl="1" marL="914400" algn="l">
              <a:lnSpc>
                <a:spcPct val="100000"/>
              </a:lnSpc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Char char="–"/>
              <a:defRPr sz="9300"/>
            </a:lvl2pPr>
            <a:lvl3pPr indent="-7366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3pPr>
            <a:lvl4pPr indent="-647700" lvl="3" marL="18288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Char char="–"/>
              <a:defRPr sz="6600"/>
            </a:lvl4pPr>
            <a:lvl5pPr indent="-647700" lvl="4" marL="22860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Char char="»"/>
              <a:defRPr sz="6600"/>
            </a:lvl5pPr>
            <a:lvl6pPr indent="-647700" lvl="5" marL="2743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Char char="•"/>
              <a:defRPr sz="6600"/>
            </a:lvl6pPr>
            <a:lvl7pPr indent="-647700" lvl="6" marL="32004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Char char="•"/>
              <a:defRPr sz="6600"/>
            </a:lvl7pPr>
            <a:lvl8pPr indent="-647700" lvl="7" marL="3657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Char char="•"/>
              <a:defRPr sz="6600"/>
            </a:lvl8pPr>
            <a:lvl9pPr indent="-647700" lvl="8" marL="41148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Char char="•"/>
              <a:defRPr sz="66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1600202" y="4400975"/>
            <a:ext cx="10529096" cy="14385927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4600"/>
              <a:buNone/>
              <a:defRPr sz="4600"/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indent="-228600" lvl="2" marL="137160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1600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10934700" y="19492912"/>
            <a:ext cx="10134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22936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1600200" y="842962"/>
            <a:ext cx="28803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0" type="dt"/>
          </p:nvPr>
        </p:nvSpPr>
        <p:spPr>
          <a:xfrm>
            <a:off x="1600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1" type="ftr"/>
          </p:nvPr>
        </p:nvSpPr>
        <p:spPr>
          <a:xfrm>
            <a:off x="10934700" y="19492912"/>
            <a:ext cx="10134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22936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1600200" y="842962"/>
            <a:ext cx="28803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" type="body"/>
          </p:nvPr>
        </p:nvSpPr>
        <p:spPr>
          <a:xfrm>
            <a:off x="1600200" y="4707680"/>
            <a:ext cx="14140658" cy="1961937"/>
          </a:xfrm>
          <a:prstGeom prst="rect">
            <a:avLst/>
          </a:prstGeom>
          <a:noFill/>
          <a:ln>
            <a:noFill/>
          </a:ln>
        </p:spPr>
        <p:txBody>
          <a:bodyPr anchorCtr="0" anchor="b" bIns="151525" lIns="303050" spcFirstLastPara="1" rIns="303050" wrap="square" tIns="1515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/>
            </a:lvl1pPr>
            <a:lvl2pPr indent="-228600" lvl="1" marL="9144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b="1" sz="6600"/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3pPr>
            <a:lvl4pPr indent="-228600" lvl="3" marL="18288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b="1" sz="5300"/>
            </a:lvl4pPr>
            <a:lvl5pPr indent="-228600" lvl="4" marL="22860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b="1" sz="5300"/>
            </a:lvl5pPr>
            <a:lvl6pPr indent="-228600" lvl="5" marL="27432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b="1" sz="5300"/>
            </a:lvl6pPr>
            <a:lvl7pPr indent="-228600" lvl="6" marL="32004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b="1" sz="5300"/>
            </a:lvl7pPr>
            <a:lvl8pPr indent="-228600" lvl="7" marL="36576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b="1" sz="5300"/>
            </a:lvl8pPr>
            <a:lvl9pPr indent="-228600" lvl="8" marL="41148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b="1" sz="53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1600200" y="6669617"/>
            <a:ext cx="14140658" cy="12117283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indent="-736600" lvl="0" marL="457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1pPr>
            <a:lvl2pPr indent="-647700" lvl="1" marL="9144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Char char="–"/>
              <a:defRPr sz="6600"/>
            </a:lvl2pPr>
            <a:lvl3pPr indent="-609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3pPr>
            <a:lvl4pPr indent="-565150" lvl="3" marL="18288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Char char="–"/>
              <a:defRPr sz="5300"/>
            </a:lvl4pPr>
            <a:lvl5pPr indent="-565150" lvl="4" marL="22860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Char char="»"/>
              <a:defRPr sz="5300"/>
            </a:lvl5pPr>
            <a:lvl6pPr indent="-565150" lvl="5" marL="27432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6pPr>
            <a:lvl7pPr indent="-565150" lvl="6" marL="32004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7pPr>
            <a:lvl8pPr indent="-565150" lvl="7" marL="36576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8pPr>
            <a:lvl9pPr indent="-565150" lvl="8" marL="41148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9pPr>
          </a:lstStyle>
          <a:p/>
        </p:txBody>
      </p:sp>
      <p:sp>
        <p:nvSpPr>
          <p:cNvPr id="50" name="Google Shape;50;p9"/>
          <p:cNvSpPr txBox="1"/>
          <p:nvPr>
            <p:ph idx="3" type="body"/>
          </p:nvPr>
        </p:nvSpPr>
        <p:spPr>
          <a:xfrm>
            <a:off x="16257589" y="4707680"/>
            <a:ext cx="14146213" cy="1961937"/>
          </a:xfrm>
          <a:prstGeom prst="rect">
            <a:avLst/>
          </a:prstGeom>
          <a:noFill/>
          <a:ln>
            <a:noFill/>
          </a:ln>
        </p:spPr>
        <p:txBody>
          <a:bodyPr anchorCtr="0" anchor="b" bIns="151525" lIns="303050" spcFirstLastPara="1" rIns="303050" wrap="square" tIns="1515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/>
            </a:lvl1pPr>
            <a:lvl2pPr indent="-228600" lvl="1" marL="9144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b="1" sz="6600"/>
            </a:lvl2pPr>
            <a:lvl3pPr indent="-228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/>
            </a:lvl3pPr>
            <a:lvl4pPr indent="-228600" lvl="3" marL="18288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b="1" sz="5300"/>
            </a:lvl4pPr>
            <a:lvl5pPr indent="-228600" lvl="4" marL="22860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b="1" sz="5300"/>
            </a:lvl5pPr>
            <a:lvl6pPr indent="-228600" lvl="5" marL="27432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b="1" sz="5300"/>
            </a:lvl6pPr>
            <a:lvl7pPr indent="-228600" lvl="6" marL="32004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b="1" sz="5300"/>
            </a:lvl7pPr>
            <a:lvl8pPr indent="-228600" lvl="7" marL="36576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b="1" sz="5300"/>
            </a:lvl8pPr>
            <a:lvl9pPr indent="-228600" lvl="8" marL="41148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b="1" sz="5300"/>
            </a:lvl9pPr>
          </a:lstStyle>
          <a:p/>
        </p:txBody>
      </p:sp>
      <p:sp>
        <p:nvSpPr>
          <p:cNvPr id="51" name="Google Shape;51;p9"/>
          <p:cNvSpPr txBox="1"/>
          <p:nvPr>
            <p:ph idx="4" type="body"/>
          </p:nvPr>
        </p:nvSpPr>
        <p:spPr>
          <a:xfrm>
            <a:off x="16257589" y="6669617"/>
            <a:ext cx="14146213" cy="12117283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indent="-736600" lvl="0" marL="457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•"/>
              <a:defRPr sz="8000"/>
            </a:lvl1pPr>
            <a:lvl2pPr indent="-647700" lvl="1" marL="9144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Char char="–"/>
              <a:defRPr sz="6600"/>
            </a:lvl2pPr>
            <a:lvl3pPr indent="-609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3pPr>
            <a:lvl4pPr indent="-565150" lvl="3" marL="18288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Char char="–"/>
              <a:defRPr sz="5300"/>
            </a:lvl4pPr>
            <a:lvl5pPr indent="-565150" lvl="4" marL="22860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Char char="»"/>
              <a:defRPr sz="5300"/>
            </a:lvl5pPr>
            <a:lvl6pPr indent="-565150" lvl="5" marL="27432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6pPr>
            <a:lvl7pPr indent="-565150" lvl="6" marL="32004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7pPr>
            <a:lvl8pPr indent="-565150" lvl="7" marL="36576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8pPr>
            <a:lvl9pPr indent="-565150" lvl="8" marL="41148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Char char="•"/>
              <a:defRPr sz="5300"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1600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10934700" y="19492912"/>
            <a:ext cx="10134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22936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1600200" y="842962"/>
            <a:ext cx="28803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1600200" y="4907281"/>
            <a:ext cx="14135100" cy="13879620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indent="-819150" lvl="0" marL="457200" algn="l">
              <a:lnSpc>
                <a:spcPct val="100000"/>
              </a:lnSpc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Char char="•"/>
              <a:defRPr sz="9300"/>
            </a:lvl1pPr>
            <a:lvl2pPr indent="-7366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–"/>
              <a:defRPr sz="8000"/>
            </a:lvl2pPr>
            <a:lvl3pPr indent="-647700" lvl="2" marL="1371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Char char="•"/>
              <a:defRPr sz="6600"/>
            </a:lvl3pPr>
            <a:lvl4pPr indent="-609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–"/>
              <a:defRPr sz="6000"/>
            </a:lvl4pPr>
            <a:lvl5pPr indent="-609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»"/>
              <a:defRPr sz="6000"/>
            </a:lvl5pPr>
            <a:lvl6pPr indent="-6096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indent="-6096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indent="-609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indent="-6096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16268700" y="4907281"/>
            <a:ext cx="14135100" cy="13879620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indent="-819150" lvl="0" marL="457200" algn="l">
              <a:lnSpc>
                <a:spcPct val="100000"/>
              </a:lnSpc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Char char="•"/>
              <a:defRPr sz="9300"/>
            </a:lvl1pPr>
            <a:lvl2pPr indent="-7366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Char char="–"/>
              <a:defRPr sz="8000"/>
            </a:lvl2pPr>
            <a:lvl3pPr indent="-647700" lvl="2" marL="1371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Char char="•"/>
              <a:defRPr sz="6600"/>
            </a:lvl3pPr>
            <a:lvl4pPr indent="-6096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–"/>
              <a:defRPr sz="6000"/>
            </a:lvl4pPr>
            <a:lvl5pPr indent="-6096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»"/>
              <a:defRPr sz="6000"/>
            </a:lvl5pPr>
            <a:lvl6pPr indent="-6096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indent="-6096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indent="-609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indent="-6096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1600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10934700" y="19492912"/>
            <a:ext cx="10134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22936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2528096" y="13514495"/>
            <a:ext cx="27203400" cy="4177030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33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2528096" y="8913922"/>
            <a:ext cx="27203400" cy="4600573"/>
          </a:xfrm>
          <a:prstGeom prst="rect">
            <a:avLst/>
          </a:prstGeom>
          <a:noFill/>
          <a:ln>
            <a:noFill/>
          </a:ln>
        </p:spPr>
        <p:txBody>
          <a:bodyPr anchorCtr="0" anchor="b" bIns="151525" lIns="303050" spcFirstLastPara="1" rIns="303050" wrap="square" tIns="1515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6000"/>
              <a:buNone/>
              <a:defRPr sz="6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None/>
              <a:defRPr sz="53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888888"/>
              </a:buClr>
              <a:buSzPts val="4600"/>
              <a:buNone/>
              <a:defRPr sz="4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888888"/>
              </a:buClr>
              <a:buSzPts val="4600"/>
              <a:buNone/>
              <a:defRPr sz="4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888888"/>
              </a:buClr>
              <a:buSzPts val="4600"/>
              <a:buNone/>
              <a:defRPr sz="4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888888"/>
              </a:buClr>
              <a:buSzPts val="4600"/>
              <a:buNone/>
              <a:defRPr sz="4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888888"/>
              </a:buClr>
              <a:buSzPts val="4600"/>
              <a:buNone/>
              <a:defRPr sz="4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888888"/>
              </a:buClr>
              <a:buSzPts val="4600"/>
              <a:buNone/>
              <a:defRPr sz="4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600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10934700" y="19492912"/>
            <a:ext cx="10134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2936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600200" y="842962"/>
            <a:ext cx="28803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1600200" y="4906962"/>
            <a:ext cx="28803600" cy="13879512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600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10934700" y="19492912"/>
            <a:ext cx="10134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2936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ctrTitle"/>
          </p:nvPr>
        </p:nvSpPr>
        <p:spPr>
          <a:xfrm>
            <a:off x="2400300" y="6533305"/>
            <a:ext cx="27203400" cy="4508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subTitle"/>
          </p:nvPr>
        </p:nvSpPr>
        <p:spPr>
          <a:xfrm>
            <a:off x="4800600" y="11917680"/>
            <a:ext cx="22402800" cy="5374640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lvl="0" algn="ctr">
              <a:lnSpc>
                <a:spcPct val="100000"/>
              </a:lnSpc>
              <a:spcBef>
                <a:spcPts val="2120"/>
              </a:spcBef>
              <a:spcAft>
                <a:spcPts val="0"/>
              </a:spcAft>
              <a:buClr>
                <a:srgbClr val="888888"/>
              </a:buClr>
              <a:buSzPts val="10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860"/>
              </a:spcBef>
              <a:spcAft>
                <a:spcPts val="0"/>
              </a:spcAft>
              <a:buClr>
                <a:srgbClr val="888888"/>
              </a:buClr>
              <a:buSzPts val="9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8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600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0934700" y="19492912"/>
            <a:ext cx="10134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2936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600200" y="842962"/>
            <a:ext cx="28803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600200" y="4906962"/>
            <a:ext cx="28803600" cy="13879512"/>
          </a:xfrm>
          <a:prstGeom prst="rect">
            <a:avLst/>
          </a:prstGeom>
          <a:noFill/>
          <a:ln>
            <a:noFill/>
          </a:ln>
        </p:spPr>
        <p:txBody>
          <a:bodyPr anchorCtr="0" anchor="t" bIns="151525" lIns="303050" spcFirstLastPara="1" rIns="303050" wrap="square" tIns="151525">
            <a:noAutofit/>
          </a:bodyPr>
          <a:lstStyle>
            <a:lvl1pPr indent="-901700" lvl="0" marL="457200" marR="0" rtl="0" algn="l">
              <a:lnSpc>
                <a:spcPct val="100000"/>
              </a:lnSpc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•"/>
              <a:defRPr b="0" i="0" sz="10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19150" lvl="1" marL="914400" marR="0" rtl="0" algn="l">
              <a:lnSpc>
                <a:spcPct val="100000"/>
              </a:lnSpc>
              <a:spcBef>
                <a:spcPts val="186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Arial"/>
              <a:buChar char="–"/>
              <a:defRPr b="0" i="0" sz="9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366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Char char="•"/>
              <a:defRPr b="0" i="0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47700" lvl="3" marL="18288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–"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47700" lvl="4" marL="22860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»"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47700" lvl="5" marL="27432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47700" lvl="6" marL="32004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47700" lvl="7" marL="36576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47700" lvl="8" marL="41148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600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0934700" y="19492912"/>
            <a:ext cx="10134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2936200" y="19492912"/>
            <a:ext cx="7467600" cy="1119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151525" lIns="303050" spcFirstLastPara="1" rIns="303050" wrap="square" tIns="151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4000"/>
              <a:buFont typeface="Calibri"/>
              <a:buNone/>
              <a:defRPr b="0" i="0" sz="40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81000" y="0"/>
            <a:ext cx="31242000" cy="202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72450" y="16740612"/>
            <a:ext cx="9982200" cy="330676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4029325" y="520750"/>
            <a:ext cx="24435000" cy="206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4A7EBB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63500" dir="5400000" dist="23000">
              <a:srgbClr val="80808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Arial"/>
              <a:buNone/>
            </a:pPr>
            <a:r>
              <a:rPr b="1" lang="en-US" sz="69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Path Following</a:t>
            </a:r>
            <a:r>
              <a:rPr b="1" lang="en-US" sz="69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and Sign Recognition in </a:t>
            </a:r>
            <a:r>
              <a:rPr b="1" lang="en-US" sz="69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Autonomous</a:t>
            </a:r>
            <a:r>
              <a:rPr b="1" lang="en-US" sz="69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Vehicles</a:t>
            </a:r>
            <a:endParaRPr b="1" sz="69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marR="34290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lang="en-US" sz="3200">
                <a:solidFill>
                  <a:srgbClr val="1F1F1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Dominic Torbati, Benjamin Martin</a:t>
            </a:r>
            <a:r>
              <a:rPr lang="en-US" sz="3200">
                <a:solidFill>
                  <a:srgbClr val="444746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3200">
                <a:solidFill>
                  <a:srgbClr val="1F1F1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Ha Long Truong</a:t>
            </a:r>
            <a:r>
              <a:rPr lang="en-US" sz="3200">
                <a:solidFill>
                  <a:srgbClr val="444746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3200">
                <a:solidFill>
                  <a:srgbClr val="1F1F1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Linda Onyango</a:t>
            </a:r>
            <a:r>
              <a:rPr lang="en-US" sz="3200">
                <a:solidFill>
                  <a:srgbClr val="444746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3200">
                <a:solidFill>
                  <a:srgbClr val="1F1F1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Nitish Reddy Dyapa,</a:t>
            </a:r>
            <a:r>
              <a:rPr lang="en-US" sz="3200">
                <a:solidFill>
                  <a:srgbClr val="444746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>
                <a:solidFill>
                  <a:srgbClr val="1F1F1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Vignesh Anandama</a:t>
            </a:r>
            <a:endParaRPr b="1" sz="3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25425" y="4289325"/>
            <a:ext cx="10880400" cy="3951000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Objective:</a:t>
            </a:r>
            <a:endParaRPr b="1" i="0" sz="5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aims to develop an autonomous navigation system for the ROSMASTER X3 that combines path planning and street sign recognition. The robot will use onboard sensors and a camera to navigate through a road-like environment while detecting signs such as stop, turn, and speed limit indicators.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24517" t="21899"/>
          <a:stretch/>
        </p:blipFill>
        <p:spPr>
          <a:xfrm>
            <a:off x="3069074" y="8676187"/>
            <a:ext cx="4546474" cy="6270750"/>
          </a:xfrm>
          <a:prstGeom prst="rect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"/>
          <p:cNvSpPr txBox="1"/>
          <p:nvPr/>
        </p:nvSpPr>
        <p:spPr>
          <a:xfrm>
            <a:off x="830475" y="16182900"/>
            <a:ext cx="9982200" cy="33069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Challenges:</a:t>
            </a:r>
            <a:endParaRPr b="1" i="0" sz="5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Limited Autonimous Vehicle Experience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Outdated Software in Rosmaster X3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angles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too sharp for Rosmaster to recognize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to Rosmas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 to recognize the signs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3198925" y="4289325"/>
            <a:ext cx="8813400" cy="39510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Approach:</a:t>
            </a:r>
            <a:endParaRPr b="1" i="0" sz="5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use Computer Vision and the Depth Camera on the Rosmaster to track and follow a certain color it is coded to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recognize. The Rosmaster is also  trained to recognize and react according to which ever sign is given, such as a Stop Sign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5">
            <a:alphaModFix/>
          </a:blip>
          <a:srcRect b="43923" l="23507" r="28577" t="19763"/>
          <a:stretch/>
        </p:blipFill>
        <p:spPr>
          <a:xfrm>
            <a:off x="13331087" y="9298100"/>
            <a:ext cx="8064025" cy="4581849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" name="Google Shape;92;p1"/>
          <p:cNvSpPr txBox="1"/>
          <p:nvPr/>
        </p:nvSpPr>
        <p:spPr>
          <a:xfrm>
            <a:off x="1418013" y="15102150"/>
            <a:ext cx="7848600" cy="5715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Rosmaster Following the Path Made with Tape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3331075" y="14375425"/>
            <a:ext cx="8549100" cy="11274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the Depth Camera sees through Computer Vision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31663" y="8676163"/>
            <a:ext cx="4943475" cy="6696075"/>
          </a:xfrm>
          <a:prstGeom prst="rect">
            <a:avLst/>
          </a:prstGeom>
          <a:noFill/>
          <a:ln cap="flat" cmpd="sng" w="76200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1"/>
          <p:cNvSpPr txBox="1"/>
          <p:nvPr/>
        </p:nvSpPr>
        <p:spPr>
          <a:xfrm>
            <a:off x="22928875" y="15673650"/>
            <a:ext cx="8549100" cy="7659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Flowchart of Decision Making for Sign Recognition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2664575" y="4289325"/>
            <a:ext cx="8813400" cy="39510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Accomplishments:</a:t>
            </a:r>
            <a:endParaRPr b="1" i="0" sz="5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Depth Camera can recognize colors and signs for tracking/stopping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Rosmaster can follow and repeat a path mapped on the ground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Rosmaster reacts and moves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accordingly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signs that is shown to them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1505825" y="16182900"/>
            <a:ext cx="9982200" cy="33069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-US" sz="5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Optimization:</a:t>
            </a:r>
            <a:endParaRPr b="1" sz="5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Introduction of SLAM to remember environments, instead of following pats: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recognition and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avoidance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which allows for unpredictable obstacles to be avoided.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2012-11-15T21:29:53Z</dcterms:created>
  <dc:creator>Windows User</dc:creator>
</cp:coreProperties>
</file>